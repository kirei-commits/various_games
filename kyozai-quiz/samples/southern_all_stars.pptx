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13f86413-35ca-ceb3-6247-93199df4c357}">
          <p14:sldIdLst>
            <p14:sldId id="256"/>
            <p14:sldId id="257"/>
          </p14:sldIdLst>
        </p14:section>
        <p14:section name="バンドの歩み" id="{15cb4e23-cb65-9ff5-9702-a4979703738b}">
          <p14:sldIdLst>
            <p14:sldId id="258"/>
            <p14:sldId id="259"/>
          </p14:sldIdLst>
        </p14:section>
        <p14:section name="桑田佳祐" id="{af125897-545c-8894-e907-a5a9b70ad064}">
          <p14:sldIdLst>
            <p14:sldId id="260"/>
          </p14:sldIdLst>
        </p14:section>
        <p14:section name="作品" id="{7bfdfffa-cd42-a3cc-ddf6-f5c85255210f}">
          <p14:sldIdLst>
            <p14:sldId id="261"/>
            <p14:sldId id="262"/>
            <p14:sldId id="263"/>
          </p14:sldIdLst>
        </p14:section>
        <p14:section name="まとめ" id="{f9973c1c-23bd-c738-eec2-3182a556ecbc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43B"/>
                </a:solidFill>
                <a:latin typeface="+mn-lt"/>
              </a:rPr>
              <a:t>年代別のオリジナルアルバム数（枚）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オリジナルアルバム数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1970年代</c:v>
                  </c:pt>
                  <c:pt idx="1">
                    <c:v>1980年代</c:v>
                  </c:pt>
                  <c:pt idx="2">
                    <c:v>1990年代</c:v>
                  </c:pt>
                  <c:pt idx="3">
                    <c:v>2000年代</c:v>
                  </c:pt>
                  <c:pt idx="4">
                    <c:v>2010年代</c:v>
                  </c:pt>
                  <c:pt idx="5">
                    <c:v>2020年代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6</c:v>
                </c:pt>
                <c:pt idx="2">
                  <c:v>5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0"/>
        <c:axPos val="l"/>
        <c:majorGridlines>
          <c:spPr>
            <a:ln w="9525" cap="flat">
              <a:solidFill>
                <a:srgbClr val="DDE5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教材では、サザンオールスターズの結成からの歩みと、中心人物である桑田佳祐の活動の広がりを扱う。図（メンバー構成図、年表、活動の広がり、アルバム数のグラフ、楽曲マップ）を読み取れるかを確認問題で問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桑田佳祐はサザンの中心人物。妻はサザンのキーボード担当の原由子で、1982年に結婚した。ソロ活動とバンド活動を行き来しているのが特徴。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サザンオールスターズは青山学院大学の音楽サークル「Better Days」のメンバーを中心に結成された。ギターの大森隆志は2001年に脱退し、現在は5人。原由子は桑田佳祐の妻。パーカッションの野沢秀行は「毛ガニ」の愛称で知られる。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1978年のデビュー後、1986年にバンドとしての活動をいったん休止し、1988年に再開した。2008年にはデビュー30周年を区切りに無期限活動休止に入り、2013年に再始動。2025年には前作『葡萄』（2015年）から10年ぶりとなるオリジナルアルバムを発表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桑田佳祐はサザンオールスターズを本拠地にしながら、1986年のKUWATA BAND、1987年からのソロ活動、1990年の映画監督と、活動の幅を広げてきた。ソロでは2001年に「波乗りジョニー」「白い恋人達」がヒットした。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サザンのオリジナルアルバムは全16作。1970年代2作、1980年代6作、1990年代5作（1990年の『稲村ジェーン』を含む）、2000年代以降は各年代1作ずつ。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「TSUNAMI」は2000年に発売され、売上は300万枚に迫り、同年の日本レコード大賞を受賞した。「ピースとハイライト」で1980年代・1990年代・2000年代・2010年代の4つの年代でシングル1位を獲得した。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横軸は曲調（左がバラード、右がアップテンポ）、縦軸は発表年（上ほど新しい）。曲調の位置は講師による一例で、厳密な分類ではない。どの年代にもバラードとアップテンポの両方のヒット曲があることが読み取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全体のまとめ。結成の経緯、休止と再始動の歴史、桑田佳祐の活動の広がりの3点を押さえる。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サザンオールスターズと桑田佳祐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学生サークルから国民的バンドへ ― デビューから半世紀近い歩みを図で学ぶ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桑田佳祐 ― バンドの声であり、作り手</a:t>
            </a:r>
            <a:endParaRPr lang="en-US" sz="3000" dirty="0"/>
          </a:p>
        </p:txBody>
      </p:sp>
      <p:sp>
        <p:nvSpPr>
          <p:cNvPr id="3" name="profile-bullets"/>
          <p:cNvSpPr txBox="1"/>
          <p:nvPr/>
        </p:nvSpPr>
        <p:spPr>
          <a:xfrm>
            <a:off x="548640" y="155448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サザンオールスターズのボーカル・ギターを担当し、ほとんどの楽曲の作詞・作曲を手がける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1986年にKUWATA BANDを結成し、1987年に「悲しい気持ち (JUST A MAN IN LOVE)」でソロデビュー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1990年には映画『稲村ジェーン』で監督を務めた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2010年に病気療養のため休養し、同年末の『紅白歌合戦』で復帰した</a:t>
            </a:r>
            <a:endParaRPr lang="en-US" sz="1800" dirty="0"/>
          </a:p>
        </p:txBody>
      </p:sp>
      <p:sp>
        <p:nvSpPr>
          <p:cNvPr id="4" name="stat-0"/>
          <p:cNvSpPr txBox="1"/>
          <p:nvPr/>
        </p:nvSpPr>
        <p:spPr>
          <a:xfrm>
            <a:off x="7680960" y="1554480"/>
            <a:ext cx="3931920" cy="12344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203200" rIns="203200" bIns="10160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1956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年 生まれ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4A5A60"/>
                </a:solidFill>
              </a:rPr>
              <a:t>2月26日、神奈川県茅ヶ崎市出身</a:t>
            </a:r>
            <a:endParaRPr lang="en-US" sz="3600" dirty="0"/>
          </a:p>
        </p:txBody>
      </p:sp>
      <p:sp>
        <p:nvSpPr>
          <p:cNvPr id="5" name="stat-1"/>
          <p:cNvSpPr txBox="1"/>
          <p:nvPr/>
        </p:nvSpPr>
        <p:spPr>
          <a:xfrm>
            <a:off x="7680960" y="3017520"/>
            <a:ext cx="3931920" cy="12344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203200" rIns="203200" bIns="10160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1978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年 デビュー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4A5A60"/>
                </a:solidFill>
              </a:rPr>
              <a:t>「勝手にシンドバッド」</a:t>
            </a:r>
            <a:endParaRPr lang="en-US" sz="3600" dirty="0"/>
          </a:p>
        </p:txBody>
      </p:sp>
      <p:sp>
        <p:nvSpPr>
          <p:cNvPr id="6" name="stat-2"/>
          <p:cNvSpPr txBox="1"/>
          <p:nvPr/>
        </p:nvSpPr>
        <p:spPr>
          <a:xfrm>
            <a:off x="7680960" y="4480560"/>
            <a:ext cx="3931920" cy="12344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203200" rIns="203200" bIns="10160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1987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年 ソロデビュー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4A5A60"/>
                </a:solidFill>
              </a:rPr>
              <a:t>バンドと並行して活動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メンバー構成 ― 6人で結成、現在は5人</a:t>
            </a:r>
            <a:endParaRPr lang="en-US" sz="3000" dirty="0"/>
          </a:p>
        </p:txBody>
      </p:sp>
      <p:sp>
        <p:nvSpPr>
          <p:cNvPr id="3" name="origin"/>
          <p:cNvSpPr/>
          <p:nvPr/>
        </p:nvSpPr>
        <p:spPr>
          <a:xfrm>
            <a:off x="3337560" y="1417320"/>
            <a:ext cx="54864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337560" y="1417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源流: 青山学院大学の音楽サークル「Better Days」</a:t>
            </a:r>
            <a:endParaRPr lang="en-US" sz="1500" dirty="0"/>
          </a:p>
        </p:txBody>
      </p:sp>
      <p:sp>
        <p:nvSpPr>
          <p:cNvPr id="5" name="origin-arrow"/>
          <p:cNvSpPr/>
          <p:nvPr/>
        </p:nvSpPr>
        <p:spPr>
          <a:xfrm>
            <a:off x="6080760" y="2103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" name="band"/>
          <p:cNvSpPr/>
          <p:nvPr/>
        </p:nvSpPr>
        <p:spPr>
          <a:xfrm>
            <a:off x="4709160" y="2788920"/>
            <a:ext cx="27432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09160" y="27889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サザンオールスターズ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1978年デビュー</a:t>
            </a:r>
            <a:endParaRPr lang="en-US" sz="1600" dirty="0"/>
          </a:p>
        </p:txBody>
      </p:sp>
      <p:sp>
        <p:nvSpPr>
          <p:cNvPr id="8" name="link-0"/>
          <p:cNvSpPr/>
          <p:nvPr/>
        </p:nvSpPr>
        <p:spPr>
          <a:xfrm>
            <a:off x="3291840" y="2857500"/>
            <a:ext cx="1417320" cy="617220"/>
          </a:xfrm>
          <a:prstGeom prst="line">
            <a:avLst/>
          </a:prstGeom>
          <a:noFill/>
          <a:ln w="19050">
            <a:solidFill>
              <a:srgbClr val="264653"/>
            </a:solidFill>
            <a:prstDash val="solid"/>
          </a:ln>
        </p:spPr>
      </p:sp>
      <p:sp>
        <p:nvSpPr>
          <p:cNvPr id="9" name="member-0"/>
          <p:cNvSpPr/>
          <p:nvPr/>
        </p:nvSpPr>
        <p:spPr>
          <a:xfrm>
            <a:off x="548640" y="2377440"/>
            <a:ext cx="274320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774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桑田佳祐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ボーカル・ギター</a:t>
            </a:r>
            <a:endParaRPr lang="en-US" sz="1600" dirty="0"/>
          </a:p>
        </p:txBody>
      </p:sp>
      <p:sp>
        <p:nvSpPr>
          <p:cNvPr id="11" name="link-1"/>
          <p:cNvSpPr/>
          <p:nvPr/>
        </p:nvSpPr>
        <p:spPr>
          <a:xfrm flipV="1">
            <a:off x="3291840" y="3474720"/>
            <a:ext cx="1417320" cy="662940"/>
          </a:xfrm>
          <a:prstGeom prst="line">
            <a:avLst/>
          </a:prstGeom>
          <a:noFill/>
          <a:ln w="19050">
            <a:solidFill>
              <a:srgbClr val="264653"/>
            </a:solidFill>
            <a:prstDash val="solid"/>
          </a:ln>
        </p:spPr>
      </p:sp>
      <p:sp>
        <p:nvSpPr>
          <p:cNvPr id="12" name="member-1"/>
          <p:cNvSpPr/>
          <p:nvPr/>
        </p:nvSpPr>
        <p:spPr>
          <a:xfrm>
            <a:off x="548640" y="3657600"/>
            <a:ext cx="274320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576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原由子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キーボード・ボーカル</a:t>
            </a:r>
            <a:endParaRPr lang="en-US" sz="1600" dirty="0"/>
          </a:p>
        </p:txBody>
      </p:sp>
      <p:sp>
        <p:nvSpPr>
          <p:cNvPr id="14" name="link-2"/>
          <p:cNvSpPr/>
          <p:nvPr/>
        </p:nvSpPr>
        <p:spPr>
          <a:xfrm flipV="1">
            <a:off x="3291840" y="3474720"/>
            <a:ext cx="1417320" cy="1943100"/>
          </a:xfrm>
          <a:prstGeom prst="line">
            <a:avLst/>
          </a:prstGeom>
          <a:noFill/>
          <a:ln w="19050">
            <a:solidFill>
              <a:srgbClr val="264653"/>
            </a:solidFill>
            <a:prstDash val="solid"/>
          </a:ln>
        </p:spPr>
      </p:sp>
      <p:sp>
        <p:nvSpPr>
          <p:cNvPr id="15" name="member-2"/>
          <p:cNvSpPr/>
          <p:nvPr/>
        </p:nvSpPr>
        <p:spPr>
          <a:xfrm>
            <a:off x="548640" y="4937760"/>
            <a:ext cx="274320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9377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関口和之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ベース</a:t>
            </a:r>
            <a:endParaRPr lang="en-US" sz="1600" dirty="0"/>
          </a:p>
        </p:txBody>
      </p:sp>
      <p:sp>
        <p:nvSpPr>
          <p:cNvPr id="17" name="link-3"/>
          <p:cNvSpPr/>
          <p:nvPr/>
        </p:nvSpPr>
        <p:spPr>
          <a:xfrm flipV="1">
            <a:off x="7452360" y="2857500"/>
            <a:ext cx="1417320" cy="617220"/>
          </a:xfrm>
          <a:prstGeom prst="line">
            <a:avLst/>
          </a:prstGeom>
          <a:noFill/>
          <a:ln w="19050">
            <a:solidFill>
              <a:srgbClr val="264653"/>
            </a:solidFill>
            <a:prstDash val="solid"/>
          </a:ln>
        </p:spPr>
      </p:sp>
      <p:sp>
        <p:nvSpPr>
          <p:cNvPr id="18" name="member-3"/>
          <p:cNvSpPr/>
          <p:nvPr/>
        </p:nvSpPr>
        <p:spPr>
          <a:xfrm>
            <a:off x="8869680" y="2377440"/>
            <a:ext cx="274320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0" y="23774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松田弘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ドラムス</a:t>
            </a:r>
            <a:endParaRPr lang="en-US" sz="1600" dirty="0"/>
          </a:p>
        </p:txBody>
      </p:sp>
      <p:sp>
        <p:nvSpPr>
          <p:cNvPr id="20" name="link-4"/>
          <p:cNvSpPr/>
          <p:nvPr/>
        </p:nvSpPr>
        <p:spPr>
          <a:xfrm>
            <a:off x="7452360" y="3474720"/>
            <a:ext cx="1417320" cy="662940"/>
          </a:xfrm>
          <a:prstGeom prst="line">
            <a:avLst/>
          </a:prstGeom>
          <a:noFill/>
          <a:ln w="19050">
            <a:solidFill>
              <a:srgbClr val="264653"/>
            </a:solidFill>
            <a:prstDash val="solid"/>
          </a:ln>
        </p:spPr>
      </p:sp>
      <p:sp>
        <p:nvSpPr>
          <p:cNvPr id="21" name="member-4"/>
          <p:cNvSpPr/>
          <p:nvPr/>
        </p:nvSpPr>
        <p:spPr>
          <a:xfrm>
            <a:off x="8869680" y="3657600"/>
            <a:ext cx="274320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0" y="36576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野沢秀行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パーカッション</a:t>
            </a:r>
            <a:endParaRPr lang="en-US" sz="1600" dirty="0"/>
          </a:p>
        </p:txBody>
      </p:sp>
      <p:sp>
        <p:nvSpPr>
          <p:cNvPr id="23" name="link-5"/>
          <p:cNvSpPr/>
          <p:nvPr/>
        </p:nvSpPr>
        <p:spPr>
          <a:xfrm>
            <a:off x="7452360" y="3474720"/>
            <a:ext cx="1417320" cy="1943100"/>
          </a:xfrm>
          <a:prstGeom prst="line">
            <a:avLst/>
          </a:prstGeom>
          <a:noFill/>
          <a:ln w="19050">
            <a:solidFill>
              <a:srgbClr val="9AA5AB"/>
            </a:solidFill>
            <a:prstDash val="dash"/>
          </a:ln>
        </p:spPr>
      </p:sp>
      <p:sp>
        <p:nvSpPr>
          <p:cNvPr id="24" name="member-5"/>
          <p:cNvSpPr/>
          <p:nvPr/>
        </p:nvSpPr>
        <p:spPr>
          <a:xfrm>
            <a:off x="8869680" y="493776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F1F3F4"/>
          </a:solidFill>
          <a:ln w="19050">
            <a:solidFill>
              <a:srgbClr val="9AA5AB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8869680" y="49377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0"/>
                </a:solidFill>
              </a:rPr>
              <a:t>大森隆志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A80"/>
                </a:solidFill>
              </a:rPr>
              <a:t>ギター（2001年に脱退）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0"/>
                </a:solidFill>
              </a:rPr>
              <a:t>実線: 現メンバー　破線: 元メンバー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年表 ― 休止と再始動をくり返しながら続く活動</a:t>
            </a:r>
            <a:endParaRPr lang="en-US" sz="3000" dirty="0"/>
          </a:p>
        </p:txBody>
      </p:sp>
      <p:sp>
        <p:nvSpPr>
          <p:cNvPr id="3" name="event-0"/>
          <p:cNvSpPr/>
          <p:nvPr/>
        </p:nvSpPr>
        <p:spPr>
          <a:xfrm>
            <a:off x="548640" y="1600200"/>
            <a:ext cx="23317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916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1978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「勝手にシンドバッド」でデビュー</a:t>
            </a:r>
            <a:endParaRPr lang="en-US" sz="1600" dirty="0"/>
          </a:p>
        </p:txBody>
      </p:sp>
      <p:sp>
        <p:nvSpPr>
          <p:cNvPr id="5" name="arrow-0"/>
          <p:cNvSpPr/>
          <p:nvPr/>
        </p:nvSpPr>
        <p:spPr>
          <a:xfrm>
            <a:off x="2953512" y="2400300"/>
            <a:ext cx="402336" cy="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6" name="event-1"/>
          <p:cNvSpPr/>
          <p:nvPr/>
        </p:nvSpPr>
        <p:spPr>
          <a:xfrm>
            <a:off x="3429000" y="1600200"/>
            <a:ext cx="23317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6916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1979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「いとしのエリー」がヒット</a:t>
            </a:r>
            <a:endParaRPr lang="en-US" sz="1600" dirty="0"/>
          </a:p>
        </p:txBody>
      </p:sp>
      <p:sp>
        <p:nvSpPr>
          <p:cNvPr id="8" name="arrow-1"/>
          <p:cNvSpPr/>
          <p:nvPr/>
        </p:nvSpPr>
        <p:spPr>
          <a:xfrm>
            <a:off x="5833872" y="2400300"/>
            <a:ext cx="402336" cy="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9" name="event-2"/>
          <p:cNvSpPr/>
          <p:nvPr/>
        </p:nvSpPr>
        <p:spPr>
          <a:xfrm>
            <a:off x="6309360" y="1600200"/>
            <a:ext cx="2331720" cy="1600200"/>
          </a:xfrm>
          <a:prstGeom prst="roundRect">
            <a:avLst>
              <a:gd name="adj" fmla="val 6857"/>
            </a:avLst>
          </a:prstGeom>
          <a:solidFill>
            <a:srgbClr val="F1F3F4"/>
          </a:solidFill>
          <a:ln w="19050">
            <a:solidFill>
              <a:srgbClr val="9AA5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916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A80"/>
                </a:solidFill>
              </a:rPr>
              <a:t>1986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バンドは活動休止、桑田はKUWATA BANDへ</a:t>
            </a:r>
            <a:endParaRPr lang="en-US" sz="1600" dirty="0"/>
          </a:p>
        </p:txBody>
      </p:sp>
      <p:sp>
        <p:nvSpPr>
          <p:cNvPr id="11" name="arrow-2"/>
          <p:cNvSpPr/>
          <p:nvPr/>
        </p:nvSpPr>
        <p:spPr>
          <a:xfrm>
            <a:off x="8714232" y="2400300"/>
            <a:ext cx="402336" cy="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2" name="event-3"/>
          <p:cNvSpPr/>
          <p:nvPr/>
        </p:nvSpPr>
        <p:spPr>
          <a:xfrm>
            <a:off x="9189720" y="1600200"/>
            <a:ext cx="23317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0" y="16916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1988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デビュー10周年で活動再開</a:t>
            </a:r>
            <a:endParaRPr lang="en-US" sz="1600" dirty="0"/>
          </a:p>
        </p:txBody>
      </p:sp>
      <p:sp>
        <p:nvSpPr>
          <p:cNvPr id="14" name="arrow-turn"/>
          <p:cNvSpPr/>
          <p:nvPr/>
        </p:nvSpPr>
        <p:spPr>
          <a:xfrm>
            <a:off x="10355580" y="3200400"/>
            <a:ext cx="0" cy="96012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5" name="event-4"/>
          <p:cNvSpPr/>
          <p:nvPr/>
        </p:nvSpPr>
        <p:spPr>
          <a:xfrm>
            <a:off x="9189720" y="4160520"/>
            <a:ext cx="23317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42519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2000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「TSUNAMI」が日本レコード大賞</a:t>
            </a:r>
            <a:endParaRPr lang="en-US" sz="1600" dirty="0"/>
          </a:p>
        </p:txBody>
      </p:sp>
      <p:sp>
        <p:nvSpPr>
          <p:cNvPr id="17" name="arrow-4"/>
          <p:cNvSpPr/>
          <p:nvPr/>
        </p:nvSpPr>
        <p:spPr>
          <a:xfrm flipH="1">
            <a:off x="8714232" y="4960620"/>
            <a:ext cx="402336" cy="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8" name="event-5"/>
          <p:cNvSpPr/>
          <p:nvPr/>
        </p:nvSpPr>
        <p:spPr>
          <a:xfrm>
            <a:off x="6309360" y="4160520"/>
            <a:ext cx="2331720" cy="1600200"/>
          </a:xfrm>
          <a:prstGeom prst="roundRect">
            <a:avLst>
              <a:gd name="adj" fmla="val 6857"/>
            </a:avLst>
          </a:prstGeom>
          <a:solidFill>
            <a:srgbClr val="F1F3F4"/>
          </a:solidFill>
          <a:ln w="19050">
            <a:solidFill>
              <a:srgbClr val="9AA5A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42519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A80"/>
                </a:solidFill>
              </a:rPr>
              <a:t>2008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30周年を区切りに無期限活動休止</a:t>
            </a:r>
            <a:endParaRPr lang="en-US" sz="1600" dirty="0"/>
          </a:p>
        </p:txBody>
      </p:sp>
      <p:sp>
        <p:nvSpPr>
          <p:cNvPr id="20" name="arrow-5"/>
          <p:cNvSpPr/>
          <p:nvPr/>
        </p:nvSpPr>
        <p:spPr>
          <a:xfrm flipH="1">
            <a:off x="5833872" y="4960620"/>
            <a:ext cx="402336" cy="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1" name="event-6"/>
          <p:cNvSpPr/>
          <p:nvPr/>
        </p:nvSpPr>
        <p:spPr>
          <a:xfrm>
            <a:off x="3429000" y="4160520"/>
            <a:ext cx="23317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66160" y="42519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2013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デビュー35周年で再始動</a:t>
            </a:r>
            <a:endParaRPr lang="en-US" sz="1600" dirty="0"/>
          </a:p>
        </p:txBody>
      </p:sp>
      <p:sp>
        <p:nvSpPr>
          <p:cNvPr id="23" name="arrow-6"/>
          <p:cNvSpPr/>
          <p:nvPr/>
        </p:nvSpPr>
        <p:spPr>
          <a:xfrm flipH="1">
            <a:off x="2953512" y="4960620"/>
            <a:ext cx="402336" cy="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4" name="event-7"/>
          <p:cNvSpPr/>
          <p:nvPr/>
        </p:nvSpPr>
        <p:spPr>
          <a:xfrm>
            <a:off x="548640" y="4160520"/>
            <a:ext cx="23317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2519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2025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16作目のアルバム『THANK YOU SO MUCH』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0"/>
                </a:solidFill>
              </a:rPr>
              <a:t>灰色の枠: 活動休止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桑田佳祐の活動の広がり</a:t>
            </a:r>
            <a:endParaRPr lang="en-US" sz="3000" dirty="0"/>
          </a:p>
        </p:txBody>
      </p:sp>
      <p:sp>
        <p:nvSpPr>
          <p:cNvPr id="3" name="hub"/>
          <p:cNvSpPr/>
          <p:nvPr/>
        </p:nvSpPr>
        <p:spPr>
          <a:xfrm>
            <a:off x="4846320" y="2834640"/>
            <a:ext cx="246888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46320" y="28346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桑田佳祐</a:t>
            </a:r>
            <a:endParaRPr lang="en-US" sz="2000" dirty="0"/>
          </a:p>
        </p:txBody>
      </p:sp>
      <p:sp>
        <p:nvSpPr>
          <p:cNvPr id="5" name="spoke-0"/>
          <p:cNvSpPr/>
          <p:nvPr/>
        </p:nvSpPr>
        <p:spPr>
          <a:xfrm>
            <a:off x="4206240" y="2971800"/>
            <a:ext cx="960120" cy="45720"/>
          </a:xfrm>
          <a:prstGeom prst="line">
            <a:avLst/>
          </a:prstGeom>
          <a:noFill/>
          <a:ln w="19050">
            <a:solidFill>
              <a:srgbClr val="264653"/>
            </a:solidFill>
            <a:prstDash val="solid"/>
          </a:ln>
        </p:spPr>
      </p:sp>
      <p:sp>
        <p:nvSpPr>
          <p:cNvPr id="6" name="activity-0"/>
          <p:cNvSpPr/>
          <p:nvPr/>
        </p:nvSpPr>
        <p:spPr>
          <a:xfrm>
            <a:off x="548640" y="1508760"/>
            <a:ext cx="36576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サザンオールスターズ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1978年〜　活動の本拠地となるバンド</a:t>
            </a:r>
            <a:endParaRPr lang="en-US" sz="1600" dirty="0"/>
          </a:p>
        </p:txBody>
      </p:sp>
      <p:sp>
        <p:nvSpPr>
          <p:cNvPr id="8" name="spoke-1"/>
          <p:cNvSpPr/>
          <p:nvPr/>
        </p:nvSpPr>
        <p:spPr>
          <a:xfrm flipV="1">
            <a:off x="6995160" y="2971800"/>
            <a:ext cx="987552" cy="45720"/>
          </a:xfrm>
          <a:prstGeom prst="line">
            <a:avLst/>
          </a:prstGeom>
          <a:noFill/>
          <a:ln w="19050">
            <a:solidFill>
              <a:srgbClr val="264653"/>
            </a:solidFill>
            <a:prstDash val="solid"/>
          </a:ln>
        </p:spPr>
      </p:sp>
      <p:sp>
        <p:nvSpPr>
          <p:cNvPr id="9" name="activity-1"/>
          <p:cNvSpPr/>
          <p:nvPr/>
        </p:nvSpPr>
        <p:spPr>
          <a:xfrm>
            <a:off x="7982712" y="1508760"/>
            <a:ext cx="36576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65592" y="16002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KUWATA BAND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1986年　期間限定のバンド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「BAN BAN BAN」など</a:t>
            </a:r>
            <a:endParaRPr lang="en-US" sz="1600" dirty="0"/>
          </a:p>
        </p:txBody>
      </p:sp>
      <p:sp>
        <p:nvSpPr>
          <p:cNvPr id="11" name="spoke-2"/>
          <p:cNvSpPr/>
          <p:nvPr/>
        </p:nvSpPr>
        <p:spPr>
          <a:xfrm flipV="1">
            <a:off x="4206240" y="3931920"/>
            <a:ext cx="960120" cy="502920"/>
          </a:xfrm>
          <a:prstGeom prst="line">
            <a:avLst/>
          </a:prstGeom>
          <a:noFill/>
          <a:ln w="19050">
            <a:solidFill>
              <a:srgbClr val="264653"/>
            </a:solidFill>
            <a:prstDash val="solid"/>
          </a:ln>
        </p:spPr>
      </p:sp>
      <p:sp>
        <p:nvSpPr>
          <p:cNvPr id="12" name="activity-2"/>
          <p:cNvSpPr/>
          <p:nvPr/>
        </p:nvSpPr>
        <p:spPr>
          <a:xfrm>
            <a:off x="548640" y="4434840"/>
            <a:ext cx="36576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262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ソロ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1987年〜　「波乗りジョニー」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「白い恋人達」（ともに2001年）</a:t>
            </a:r>
            <a:endParaRPr lang="en-US" sz="1600" dirty="0"/>
          </a:p>
        </p:txBody>
      </p:sp>
      <p:sp>
        <p:nvSpPr>
          <p:cNvPr id="14" name="spoke-3"/>
          <p:cNvSpPr/>
          <p:nvPr/>
        </p:nvSpPr>
        <p:spPr>
          <a:xfrm>
            <a:off x="6995160" y="3931920"/>
            <a:ext cx="987552" cy="502920"/>
          </a:xfrm>
          <a:prstGeom prst="line">
            <a:avLst/>
          </a:prstGeom>
          <a:noFill/>
          <a:ln w="19050">
            <a:solidFill>
              <a:srgbClr val="264653"/>
            </a:solidFill>
            <a:prstDash val="solid"/>
          </a:ln>
        </p:spPr>
      </p:sp>
      <p:sp>
        <p:nvSpPr>
          <p:cNvPr id="15" name="activity-3"/>
          <p:cNvSpPr/>
          <p:nvPr/>
        </p:nvSpPr>
        <p:spPr>
          <a:xfrm>
            <a:off x="7982712" y="4434840"/>
            <a:ext cx="36576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65592" y="45262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映画監督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1990年『稲村ジェーン』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サザンの「真夏の果実」を制作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オリジナルアルバムは16作 ― 1980年代に集中</a:t>
            </a:r>
            <a:endParaRPr lang="en-US" sz="3000" dirty="0"/>
          </a:p>
        </p:txBody>
      </p:sp>
      <p:graphicFrame>
        <p:nvGraphicFramePr>
          <p:cNvPr id="3" name="album-chart" descr=""/>
          <p:cNvGraphicFramePr/>
          <p:nvPr/>
        </p:nvGraphicFramePr>
        <p:xfrm>
          <a:off x="548640" y="146304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-notes"/>
          <p:cNvSpPr txBox="1"/>
          <p:nvPr/>
        </p:nvSpPr>
        <p:spPr>
          <a:xfrm>
            <a:off x="7863840" y="1645920"/>
            <a:ext cx="3749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1980年代はほぼ毎年1作のペース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2005年『キラーストリート』、2015年『葡萄』、2025年『THANK YOU SO MUCH』と、2000年代以降は10年に1作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デビュー作は1978年の『熱い胸さわぎ』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代表曲</a:t>
            </a:r>
            <a:endParaRPr lang="en-US" sz="3000" dirty="0"/>
          </a:p>
        </p:txBody>
      </p:sp>
      <p:graphicFrame>
        <p:nvGraphicFramePr>
          <p:cNvPr id="8" name="song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6858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曲名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発表年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ポイント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勝手にシンドバッド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1978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デビューシングル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いとしのエリー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1979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初期を代表するバラード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真夏の果実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1990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桑田が監督した映画『稲村ジェーン』のための曲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エロティカ・セブン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1993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アップテンポのヒット曲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TSUNAMI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2000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300万枚に迫る大ヒット。日本レコード大賞を受賞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ピースとハイライト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2013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再始動のシングル。4つの年代でシングル1位を記録</a:t>
                      </a:r>
                      <a:endParaRPr lang="en-US" sz="16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楽曲マップ ― どの年代にもバラードとアップテンポのヒット</a:t>
            </a:r>
            <a:endParaRPr lang="en-US" sz="3000" dirty="0"/>
          </a:p>
        </p:txBody>
      </p:sp>
      <p:sp>
        <p:nvSpPr>
          <p:cNvPr id="3" name="x-axis"/>
          <p:cNvSpPr/>
          <p:nvPr/>
        </p:nvSpPr>
        <p:spPr>
          <a:xfrm>
            <a:off x="1280160" y="5852160"/>
            <a:ext cx="9326880" cy="0"/>
          </a:xfrm>
          <a:prstGeom prst="line">
            <a:avLst/>
          </a:prstGeom>
          <a:noFill/>
          <a:ln w="19050">
            <a:solidFill>
              <a:srgbClr val="6B7A80"/>
            </a:solidFill>
            <a:prstDash val="solid"/>
            <a:tailEnd type="triangle"/>
          </a:ln>
        </p:spPr>
      </p:sp>
      <p:sp>
        <p:nvSpPr>
          <p:cNvPr id="4" name="y-axis"/>
          <p:cNvSpPr/>
          <p:nvPr/>
        </p:nvSpPr>
        <p:spPr>
          <a:xfrm flipV="1">
            <a:off x="1280160" y="1463040"/>
            <a:ext cx="0" cy="4389120"/>
          </a:xfrm>
          <a:prstGeom prst="line">
            <a:avLst/>
          </a:prstGeom>
          <a:noFill/>
          <a:ln w="19050">
            <a:solidFill>
              <a:srgbClr val="6B7A80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1463040" y="5943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0"/>
                </a:solidFill>
              </a:rPr>
              <a:t>バラード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5943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5A60"/>
                </a:solidFill>
              </a:rPr>
              <a:t>アップテンポ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5943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A60"/>
                </a:solidFill>
              </a:rPr>
              <a:t>曲調 →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514807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A60"/>
                </a:solidFill>
              </a:rPr>
              <a:t>1980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23367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A60"/>
                </a:solidFill>
              </a:rPr>
              <a:t>1990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31927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A60"/>
                </a:solidFill>
              </a:rPr>
              <a:t>2000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40487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A60"/>
                </a:solidFill>
              </a:rPr>
              <a:t>2010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1325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A60"/>
                </a:solidFill>
              </a:rPr>
              <a:t>発表年</a:t>
            </a:r>
            <a:endParaRPr lang="en-US" sz="1200" dirty="0"/>
          </a:p>
        </p:txBody>
      </p:sp>
      <p:sp>
        <p:nvSpPr>
          <p:cNvPr id="13" name="song-dot-0"/>
          <p:cNvSpPr/>
          <p:nvPr/>
        </p:nvSpPr>
        <p:spPr>
          <a:xfrm>
            <a:off x="9411005" y="535838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4341" y="5303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勝手にシンドバッド（1978）</a:t>
            </a:r>
            <a:endParaRPr lang="en-US" sz="1400" dirty="0"/>
          </a:p>
        </p:txBody>
      </p:sp>
      <p:sp>
        <p:nvSpPr>
          <p:cNvPr id="15" name="song-dot-1"/>
          <p:cNvSpPr/>
          <p:nvPr/>
        </p:nvSpPr>
        <p:spPr>
          <a:xfrm>
            <a:off x="2037283" y="52669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93899" y="5212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いとしのエリー（1979）</a:t>
            </a:r>
            <a:endParaRPr lang="en-US" sz="1400" dirty="0"/>
          </a:p>
        </p:txBody>
      </p:sp>
      <p:sp>
        <p:nvSpPr>
          <p:cNvPr id="17" name="song-dot-2"/>
          <p:cNvSpPr/>
          <p:nvPr/>
        </p:nvSpPr>
        <p:spPr>
          <a:xfrm>
            <a:off x="3090672" y="426110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47288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真夏の果実（1990）</a:t>
            </a:r>
            <a:endParaRPr lang="en-US" sz="1400" dirty="0"/>
          </a:p>
        </p:txBody>
      </p:sp>
      <p:sp>
        <p:nvSpPr>
          <p:cNvPr id="19" name="song-dot-3"/>
          <p:cNvSpPr/>
          <p:nvPr/>
        </p:nvSpPr>
        <p:spPr>
          <a:xfrm>
            <a:off x="8796528" y="398678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9864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エロティカ・セブン（1993）</a:t>
            </a:r>
            <a:endParaRPr lang="en-US" sz="1400" dirty="0"/>
          </a:p>
        </p:txBody>
      </p:sp>
      <p:sp>
        <p:nvSpPr>
          <p:cNvPr id="21" name="song-dot-4"/>
          <p:cNvSpPr/>
          <p:nvPr/>
        </p:nvSpPr>
        <p:spPr>
          <a:xfrm>
            <a:off x="2388413" y="334670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45029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TSUNAMI（2000）</a:t>
            </a:r>
            <a:endParaRPr lang="en-US" sz="1400" dirty="0"/>
          </a:p>
        </p:txBody>
      </p:sp>
      <p:sp>
        <p:nvSpPr>
          <p:cNvPr id="23" name="song-dot-5"/>
          <p:cNvSpPr/>
          <p:nvPr/>
        </p:nvSpPr>
        <p:spPr>
          <a:xfrm>
            <a:off x="7479792" y="215798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53128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ピースとハイライト（2013）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6355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0"/>
                </a:solidFill>
              </a:rPr>
              <a:t>※ 曲調の位置は講師による一例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まとめ</a:t>
            </a:r>
            <a:endParaRPr lang="en-US" sz="3600" dirty="0"/>
          </a:p>
        </p:txBody>
      </p:sp>
      <p:sp>
        <p:nvSpPr>
          <p:cNvPr id="3" name="point-0"/>
          <p:cNvSpPr txBox="1"/>
          <p:nvPr/>
        </p:nvSpPr>
        <p:spPr>
          <a:xfrm>
            <a:off x="822960" y="2011680"/>
            <a:ext cx="3291840" cy="2560320"/>
          </a:xfrm>
          <a:prstGeom prst="rect">
            <a:avLst/>
          </a:prstGeom>
          <a:solidFill>
            <a:srgbClr val="1C4A53"/>
          </a:solidFill>
          <a:ln/>
        </p:spPr>
        <p:txBody>
          <a:bodyPr wrap="square" lIns="203200" tIns="228600" rIns="228600" bIns="2032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3"/>
                </a:solidFill>
              </a:rPr>
              <a:t>01</a:t>
            </a:r>
            <a:endParaRPr lang="en-US" sz="2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学生サークルから国民的バンドへ</a:t>
            </a:r>
            <a:endParaRPr lang="en-US" sz="2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FE3E1"/>
                </a:solidFill>
              </a:rPr>
              <a:t>青山学院大学のサークル仲間で結成し、1978年にデビューした</a:t>
            </a:r>
            <a:endParaRPr lang="en-US" sz="2800" dirty="0"/>
          </a:p>
        </p:txBody>
      </p:sp>
      <p:sp>
        <p:nvSpPr>
          <p:cNvPr id="4" name="point-1"/>
          <p:cNvSpPr txBox="1"/>
          <p:nvPr/>
        </p:nvSpPr>
        <p:spPr>
          <a:xfrm>
            <a:off x="4434840" y="2011680"/>
            <a:ext cx="3291840" cy="2560320"/>
          </a:xfrm>
          <a:prstGeom prst="rect">
            <a:avLst/>
          </a:prstGeom>
          <a:solidFill>
            <a:srgbClr val="1C4A53"/>
          </a:solidFill>
          <a:ln/>
        </p:spPr>
        <p:txBody>
          <a:bodyPr wrap="square" lIns="203200" tIns="228600" rIns="228600" bIns="2032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3"/>
                </a:solidFill>
              </a:rPr>
              <a:t>02</a:t>
            </a:r>
            <a:endParaRPr lang="en-US" sz="2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休止と再始動をくり返して続く</a:t>
            </a:r>
            <a:endParaRPr lang="en-US" sz="2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FE3E1"/>
                </a:solidFill>
              </a:rPr>
              <a:t>1986年・2008年の休止を経て、2025年に16作目のアルバムを発表</a:t>
            </a:r>
            <a:endParaRPr lang="en-US" sz="2800" dirty="0"/>
          </a:p>
        </p:txBody>
      </p:sp>
      <p:sp>
        <p:nvSpPr>
          <p:cNvPr id="5" name="point-2"/>
          <p:cNvSpPr txBox="1"/>
          <p:nvPr/>
        </p:nvSpPr>
        <p:spPr>
          <a:xfrm>
            <a:off x="8046720" y="2011680"/>
            <a:ext cx="3291840" cy="2560320"/>
          </a:xfrm>
          <a:prstGeom prst="rect">
            <a:avLst/>
          </a:prstGeom>
          <a:solidFill>
            <a:srgbClr val="1C4A53"/>
          </a:solidFill>
          <a:ln/>
        </p:spPr>
        <p:txBody>
          <a:bodyPr wrap="square" lIns="203200" tIns="228600" rIns="228600" bIns="2032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3"/>
                </a:solidFill>
              </a:rPr>
              <a:t>03</a:t>
            </a:r>
            <a:endParaRPr lang="en-US" sz="2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桑田佳祐の幅広い活動</a:t>
            </a:r>
            <a:endParaRPr lang="en-US" sz="2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FE3E1"/>
                </a:solidFill>
              </a:rPr>
              <a:t>バンド・KUWATA BAND・ソロ・映画監督と活動の場を広げてきた</a:t>
            </a:r>
            <a:endParaRPr lang="en-US" sz="2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44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nan Sunset">
  <a:themeElements>
    <a:clrScheme name="Shonan Sunset">
      <a:dk1>
        <a:srgbClr val="1F2A30"/>
      </a:dk1>
      <a:lt1>
        <a:srgbClr val="FFFFFF"/>
      </a:lt1>
      <a:dk2>
        <a:srgbClr val="12343B"/>
      </a:dk2>
      <a:lt2>
        <a:srgbClr val="EAF3F2"/>
      </a:lt2>
      <a:accent1>
        <a:srgbClr val="E76F51"/>
      </a:accent1>
      <a:accent2>
        <a:srgbClr val="2A9D8F"/>
      </a:accent2>
      <a:accent3>
        <a:srgbClr val="F4A261"/>
      </a:accent3>
      <a:accent4>
        <a:srgbClr val="264653"/>
      </a:accent4>
      <a:accent5>
        <a:srgbClr val="8AB17D"/>
      </a:accent5>
      <a:accent6>
        <a:srgbClr val="9AA5AB"/>
      </a:accent6>
      <a:hlink>
        <a:srgbClr val="2A9D8F"/>
      </a:hlink>
      <a:folHlink>
        <a:srgbClr val="264653"/>
      </a:folHlink>
    </a:clrScheme>
    <a:fontScheme name="Shonan Sunset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サザンオールスターズと桑田佳祐</dc:title>
  <dc:subject>PptxGenJS Presentation</dc:subject>
  <dc:creator>kyozai-quiz サンプル教材</dc:creator>
  <cp:lastModifiedBy>kyozai-quiz サンプル教材</cp:lastModifiedBy>
  <cp:revision>1</cp:revision>
  <dcterms:created xsi:type="dcterms:W3CDTF">2026-10-13T04:39:41Z</dcterms:created>
  <dcterms:modified xsi:type="dcterms:W3CDTF">2026-10-13T04:39:41Z</dcterms:modified>
</cp:coreProperties>
</file>